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B2A3A"/>
                </a:solidFill>
                <a:latin typeface="Calibri"/>
              </a:rPr>
              <a:t>RoBERTa on a replayed slice of held-out log (94 windows)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confidence</c:v>
                </c:pt>
              </c:strCache>
            </c:strRef>
          </c:tx>
          <c:spPr>
            <a:ln w="31750">
              <a:solidFill>
                <a:srgbClr val="1C7293"/>
              </a:solidFill>
            </a:ln>
          </c:spPr>
          <c:marker>
            <c:symbol val="none"/>
          </c:marker>
          <c:cat>
            <c:strRef>
              <c:f>Sheet1!$A$2:$A$95</c:f>
              <c:strCache>
                <c:ptCount val="9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</c:strCache>
            </c:strRef>
          </c:cat>
          <c:val>
            <c:numRef>
              <c:f>Sheet1!$B$2:$B$95</c:f>
              <c:numCache>
                <c:formatCode>General</c:formatCode>
                <c:ptCount val="94"/>
                <c:pt idx="0">
                  <c:v>0.3694</c:v>
                </c:pt>
                <c:pt idx="1">
                  <c:v>0.3694</c:v>
                </c:pt>
                <c:pt idx="2">
                  <c:v>0.3694</c:v>
                </c:pt>
                <c:pt idx="3">
                  <c:v>0.3694</c:v>
                </c:pt>
                <c:pt idx="4">
                  <c:v>0.3694</c:v>
                </c:pt>
                <c:pt idx="5">
                  <c:v>0.3694</c:v>
                </c:pt>
                <c:pt idx="6">
                  <c:v>0.3694</c:v>
                </c:pt>
                <c:pt idx="7">
                  <c:v>0.3694</c:v>
                </c:pt>
                <c:pt idx="8">
                  <c:v>0.3694</c:v>
                </c:pt>
                <c:pt idx="9">
                  <c:v>0.3694</c:v>
                </c:pt>
                <c:pt idx="10">
                  <c:v>0.3694</c:v>
                </c:pt>
                <c:pt idx="11">
                  <c:v>0.3694</c:v>
                </c:pt>
                <c:pt idx="12">
                  <c:v>0.3694</c:v>
                </c:pt>
                <c:pt idx="13">
                  <c:v>0.3694</c:v>
                </c:pt>
                <c:pt idx="14">
                  <c:v>0.3694</c:v>
                </c:pt>
                <c:pt idx="15">
                  <c:v>0.3694</c:v>
                </c:pt>
                <c:pt idx="16">
                  <c:v>0.3694</c:v>
                </c:pt>
                <c:pt idx="17">
                  <c:v>0.6564</c:v>
                </c:pt>
                <c:pt idx="18">
                  <c:v>0.2789</c:v>
                </c:pt>
                <c:pt idx="19">
                  <c:v>0.1167</c:v>
                </c:pt>
                <c:pt idx="20">
                  <c:v>0.1519</c:v>
                </c:pt>
                <c:pt idx="21">
                  <c:v>0.7322</c:v>
                </c:pt>
                <c:pt idx="22">
                  <c:v>0.3313</c:v>
                </c:pt>
                <c:pt idx="23">
                  <c:v>0.2457</c:v>
                </c:pt>
                <c:pt idx="24">
                  <c:v>0.2963</c:v>
                </c:pt>
                <c:pt idx="25">
                  <c:v>0.2933</c:v>
                </c:pt>
                <c:pt idx="26">
                  <c:v>0.6342</c:v>
                </c:pt>
                <c:pt idx="27">
                  <c:v>0.7526</c:v>
                </c:pt>
                <c:pt idx="28">
                  <c:v>0.3418</c:v>
                </c:pt>
                <c:pt idx="29">
                  <c:v>0.7222</c:v>
                </c:pt>
                <c:pt idx="30">
                  <c:v>0.455</c:v>
                </c:pt>
                <c:pt idx="31">
                  <c:v>0.756</c:v>
                </c:pt>
                <c:pt idx="32">
                  <c:v>0.4932</c:v>
                </c:pt>
                <c:pt idx="33">
                  <c:v>0.6925</c:v>
                </c:pt>
                <c:pt idx="34">
                  <c:v>0.7533</c:v>
                </c:pt>
                <c:pt idx="35">
                  <c:v>0.724</c:v>
                </c:pt>
                <c:pt idx="36">
                  <c:v>0.7148</c:v>
                </c:pt>
                <c:pt idx="37">
                  <c:v>0.6807</c:v>
                </c:pt>
                <c:pt idx="38">
                  <c:v>0.6851</c:v>
                </c:pt>
                <c:pt idx="39">
                  <c:v>0.7218</c:v>
                </c:pt>
                <c:pt idx="40">
                  <c:v>0.6775</c:v>
                </c:pt>
                <c:pt idx="41">
                  <c:v>0.6807</c:v>
                </c:pt>
                <c:pt idx="42">
                  <c:v>0.6339</c:v>
                </c:pt>
                <c:pt idx="43">
                  <c:v>0.0407</c:v>
                </c:pt>
                <c:pt idx="44">
                  <c:v>0.0042</c:v>
                </c:pt>
                <c:pt idx="45">
                  <c:v>0.1517</c:v>
                </c:pt>
                <c:pt idx="46">
                  <c:v>0.125</c:v>
                </c:pt>
                <c:pt idx="47">
                  <c:v>0.3234</c:v>
                </c:pt>
                <c:pt idx="48">
                  <c:v>0.1653</c:v>
                </c:pt>
                <c:pt idx="49">
                  <c:v>0.1225</c:v>
                </c:pt>
                <c:pt idx="50">
                  <c:v>0.2436</c:v>
                </c:pt>
                <c:pt idx="51">
                  <c:v>0.7131</c:v>
                </c:pt>
                <c:pt idx="52">
                  <c:v>0.6877</c:v>
                </c:pt>
                <c:pt idx="53">
                  <c:v>0.6627</c:v>
                </c:pt>
                <c:pt idx="54">
                  <c:v>0.6652</c:v>
                </c:pt>
                <c:pt idx="55">
                  <c:v>0.6969</c:v>
                </c:pt>
                <c:pt idx="56">
                  <c:v>0.6837</c:v>
                </c:pt>
                <c:pt idx="57">
                  <c:v>0.3217</c:v>
                </c:pt>
                <c:pt idx="58">
                  <c:v>0.3212</c:v>
                </c:pt>
                <c:pt idx="59">
                  <c:v>0.71</c:v>
                </c:pt>
                <c:pt idx="60">
                  <c:v>0.7592</c:v>
                </c:pt>
                <c:pt idx="61">
                  <c:v>0.6818</c:v>
                </c:pt>
                <c:pt idx="62">
                  <c:v>0.7659</c:v>
                </c:pt>
                <c:pt idx="63">
                  <c:v>0.69</c:v>
                </c:pt>
                <c:pt idx="64">
                  <c:v>0.6861</c:v>
                </c:pt>
                <c:pt idx="65">
                  <c:v>0.707</c:v>
                </c:pt>
                <c:pt idx="66">
                  <c:v>0.5153</c:v>
                </c:pt>
                <c:pt idx="67">
                  <c:v>0.7328</c:v>
                </c:pt>
                <c:pt idx="68">
                  <c:v>0.6934</c:v>
                </c:pt>
                <c:pt idx="69">
                  <c:v>0.739</c:v>
                </c:pt>
                <c:pt idx="70">
                  <c:v>0.6908</c:v>
                </c:pt>
                <c:pt idx="71">
                  <c:v>0.9843</c:v>
                </c:pt>
                <c:pt idx="72">
                  <c:v>0.9884</c:v>
                </c:pt>
                <c:pt idx="73">
                  <c:v>0.9848</c:v>
                </c:pt>
                <c:pt idx="74">
                  <c:v>0.9782</c:v>
                </c:pt>
                <c:pt idx="75">
                  <c:v>0.9913</c:v>
                </c:pt>
                <c:pt idx="76">
                  <c:v>0.9892</c:v>
                </c:pt>
                <c:pt idx="77">
                  <c:v>0.9807</c:v>
                </c:pt>
                <c:pt idx="78">
                  <c:v>0.9759</c:v>
                </c:pt>
                <c:pt idx="79">
                  <c:v>0.7791</c:v>
                </c:pt>
                <c:pt idx="80">
                  <c:v>0.9454</c:v>
                </c:pt>
                <c:pt idx="81">
                  <c:v>0.9904</c:v>
                </c:pt>
                <c:pt idx="82">
                  <c:v>0.9865</c:v>
                </c:pt>
                <c:pt idx="83">
                  <c:v>0.9761</c:v>
                </c:pt>
                <c:pt idx="84">
                  <c:v>0.9816</c:v>
                </c:pt>
                <c:pt idx="85">
                  <c:v>0.9907</c:v>
                </c:pt>
                <c:pt idx="86">
                  <c:v>0.964</c:v>
                </c:pt>
                <c:pt idx="87">
                  <c:v>0.973</c:v>
                </c:pt>
                <c:pt idx="88">
                  <c:v>0.9809</c:v>
                </c:pt>
                <c:pt idx="89">
                  <c:v>0.0066</c:v>
                </c:pt>
                <c:pt idx="90">
                  <c:v>0.4276</c:v>
                </c:pt>
                <c:pt idx="91">
                  <c:v>0.2807</c:v>
                </c:pt>
                <c:pt idx="92">
                  <c:v>0.1175</c:v>
                </c:pt>
                <c:pt idx="93">
                  <c:v>0.1481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 τ = 0.930</c:v>
                </c:pt>
              </c:strCache>
            </c:strRef>
          </c:tx>
          <c:spPr>
            <a:ln w="22225">
              <a:solidFill>
                <a:srgbClr val="D64545"/>
              </a:solidFill>
              <a:prstDash val="dash"/>
            </a:ln>
          </c:spPr>
          <c:marker>
            <c:symbol val="none"/>
          </c:marker>
          <c:cat>
            <c:strRef>
              <c:f>Sheet1!$A$2:$A$95</c:f>
              <c:strCache>
                <c:ptCount val="9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</c:strCache>
            </c:strRef>
          </c:cat>
          <c:val>
            <c:numRef>
              <c:f>Sheet1!$C$2:$C$95</c:f>
              <c:numCache>
                <c:formatCode>General</c:formatCode>
                <c:ptCount val="94"/>
                <c:pt idx="0">
                  <c:v>0.9302051067352296</c:v>
                </c:pt>
                <c:pt idx="1">
                  <c:v>0.9302051067352296</c:v>
                </c:pt>
                <c:pt idx="2">
                  <c:v>0.9302051067352296</c:v>
                </c:pt>
                <c:pt idx="3">
                  <c:v>0.9302051067352296</c:v>
                </c:pt>
                <c:pt idx="4">
                  <c:v>0.9302051067352296</c:v>
                </c:pt>
                <c:pt idx="5">
                  <c:v>0.9302051067352296</c:v>
                </c:pt>
                <c:pt idx="6">
                  <c:v>0.9302051067352296</c:v>
                </c:pt>
                <c:pt idx="7">
                  <c:v>0.9302051067352296</c:v>
                </c:pt>
                <c:pt idx="8">
                  <c:v>0.9302051067352296</c:v>
                </c:pt>
                <c:pt idx="9">
                  <c:v>0.9302051067352296</c:v>
                </c:pt>
                <c:pt idx="10">
                  <c:v>0.9302051067352296</c:v>
                </c:pt>
                <c:pt idx="11">
                  <c:v>0.9302051067352296</c:v>
                </c:pt>
                <c:pt idx="12">
                  <c:v>0.9302051067352296</c:v>
                </c:pt>
                <c:pt idx="13">
                  <c:v>0.9302051067352296</c:v>
                </c:pt>
                <c:pt idx="14">
                  <c:v>0.9302051067352296</c:v>
                </c:pt>
                <c:pt idx="15">
                  <c:v>0.9302051067352296</c:v>
                </c:pt>
                <c:pt idx="16">
                  <c:v>0.9302051067352296</c:v>
                </c:pt>
                <c:pt idx="17">
                  <c:v>0.9302051067352296</c:v>
                </c:pt>
                <c:pt idx="18">
                  <c:v>0.9302051067352296</c:v>
                </c:pt>
                <c:pt idx="19">
                  <c:v>0.9302051067352296</c:v>
                </c:pt>
                <c:pt idx="20">
                  <c:v>0.9302051067352296</c:v>
                </c:pt>
                <c:pt idx="21">
                  <c:v>0.9302051067352296</c:v>
                </c:pt>
                <c:pt idx="22">
                  <c:v>0.9302051067352296</c:v>
                </c:pt>
                <c:pt idx="23">
                  <c:v>0.9302051067352296</c:v>
                </c:pt>
                <c:pt idx="24">
                  <c:v>0.9302051067352296</c:v>
                </c:pt>
                <c:pt idx="25">
                  <c:v>0.9302051067352296</c:v>
                </c:pt>
                <c:pt idx="26">
                  <c:v>0.9302051067352296</c:v>
                </c:pt>
                <c:pt idx="27">
                  <c:v>0.9302051067352296</c:v>
                </c:pt>
                <c:pt idx="28">
                  <c:v>0.9302051067352296</c:v>
                </c:pt>
                <c:pt idx="29">
                  <c:v>0.9302051067352296</c:v>
                </c:pt>
                <c:pt idx="30">
                  <c:v>0.9302051067352296</c:v>
                </c:pt>
                <c:pt idx="31">
                  <c:v>0.9302051067352296</c:v>
                </c:pt>
                <c:pt idx="32">
                  <c:v>0.9302051067352296</c:v>
                </c:pt>
                <c:pt idx="33">
                  <c:v>0.9302051067352296</c:v>
                </c:pt>
                <c:pt idx="34">
                  <c:v>0.9302051067352296</c:v>
                </c:pt>
                <c:pt idx="35">
                  <c:v>0.9302051067352296</c:v>
                </c:pt>
                <c:pt idx="36">
                  <c:v>0.9302051067352296</c:v>
                </c:pt>
                <c:pt idx="37">
                  <c:v>0.9302051067352296</c:v>
                </c:pt>
                <c:pt idx="38">
                  <c:v>0.9302051067352296</c:v>
                </c:pt>
                <c:pt idx="39">
                  <c:v>0.9302051067352296</c:v>
                </c:pt>
                <c:pt idx="40">
                  <c:v>0.9302051067352296</c:v>
                </c:pt>
                <c:pt idx="41">
                  <c:v>0.9302051067352296</c:v>
                </c:pt>
                <c:pt idx="42">
                  <c:v>0.9302051067352296</c:v>
                </c:pt>
                <c:pt idx="43">
                  <c:v>0.9302051067352296</c:v>
                </c:pt>
                <c:pt idx="44">
                  <c:v>0.9302051067352296</c:v>
                </c:pt>
                <c:pt idx="45">
                  <c:v>0.9302051067352296</c:v>
                </c:pt>
                <c:pt idx="46">
                  <c:v>0.9302051067352296</c:v>
                </c:pt>
                <c:pt idx="47">
                  <c:v>0.9302051067352296</c:v>
                </c:pt>
                <c:pt idx="48">
                  <c:v>0.9302051067352296</c:v>
                </c:pt>
                <c:pt idx="49">
                  <c:v>0.9302051067352296</c:v>
                </c:pt>
                <c:pt idx="50">
                  <c:v>0.9302051067352296</c:v>
                </c:pt>
                <c:pt idx="51">
                  <c:v>0.9302051067352296</c:v>
                </c:pt>
                <c:pt idx="52">
                  <c:v>0.9302051067352296</c:v>
                </c:pt>
                <c:pt idx="53">
                  <c:v>0.9302051067352296</c:v>
                </c:pt>
                <c:pt idx="54">
                  <c:v>0.9302051067352296</c:v>
                </c:pt>
                <c:pt idx="55">
                  <c:v>0.9302051067352296</c:v>
                </c:pt>
                <c:pt idx="56">
                  <c:v>0.9302051067352296</c:v>
                </c:pt>
                <c:pt idx="57">
                  <c:v>0.9302051067352296</c:v>
                </c:pt>
                <c:pt idx="58">
                  <c:v>0.9302051067352296</c:v>
                </c:pt>
                <c:pt idx="59">
                  <c:v>0.9302051067352296</c:v>
                </c:pt>
                <c:pt idx="60">
                  <c:v>0.9302051067352296</c:v>
                </c:pt>
                <c:pt idx="61">
                  <c:v>0.9302051067352296</c:v>
                </c:pt>
                <c:pt idx="62">
                  <c:v>0.9302051067352296</c:v>
                </c:pt>
                <c:pt idx="63">
                  <c:v>0.9302051067352296</c:v>
                </c:pt>
                <c:pt idx="64">
                  <c:v>0.9302051067352296</c:v>
                </c:pt>
                <c:pt idx="65">
                  <c:v>0.9302051067352296</c:v>
                </c:pt>
                <c:pt idx="66">
                  <c:v>0.9302051067352296</c:v>
                </c:pt>
                <c:pt idx="67">
                  <c:v>0.9302051067352296</c:v>
                </c:pt>
                <c:pt idx="68">
                  <c:v>0.9302051067352296</c:v>
                </c:pt>
                <c:pt idx="69">
                  <c:v>0.9302051067352296</c:v>
                </c:pt>
                <c:pt idx="70">
                  <c:v>0.9302051067352296</c:v>
                </c:pt>
                <c:pt idx="71">
                  <c:v>0.9302051067352296</c:v>
                </c:pt>
                <c:pt idx="72">
                  <c:v>0.9302051067352296</c:v>
                </c:pt>
                <c:pt idx="73">
                  <c:v>0.9302051067352296</c:v>
                </c:pt>
                <c:pt idx="74">
                  <c:v>0.9302051067352296</c:v>
                </c:pt>
                <c:pt idx="75">
                  <c:v>0.9302051067352296</c:v>
                </c:pt>
                <c:pt idx="76">
                  <c:v>0.9302051067352296</c:v>
                </c:pt>
                <c:pt idx="77">
                  <c:v>0.9302051067352296</c:v>
                </c:pt>
                <c:pt idx="78">
                  <c:v>0.9302051067352296</c:v>
                </c:pt>
                <c:pt idx="79">
                  <c:v>0.9302051067352296</c:v>
                </c:pt>
                <c:pt idx="80">
                  <c:v>0.9302051067352296</c:v>
                </c:pt>
                <c:pt idx="81">
                  <c:v>0.9302051067352296</c:v>
                </c:pt>
                <c:pt idx="82">
                  <c:v>0.9302051067352296</c:v>
                </c:pt>
                <c:pt idx="83">
                  <c:v>0.9302051067352296</c:v>
                </c:pt>
                <c:pt idx="84">
                  <c:v>0.9302051067352296</c:v>
                </c:pt>
                <c:pt idx="85">
                  <c:v>0.9302051067352296</c:v>
                </c:pt>
                <c:pt idx="86">
                  <c:v>0.9302051067352296</c:v>
                </c:pt>
                <c:pt idx="87">
                  <c:v>0.9302051067352296</c:v>
                </c:pt>
                <c:pt idx="88">
                  <c:v>0.9302051067352296</c:v>
                </c:pt>
                <c:pt idx="89">
                  <c:v>0.9302051067352296</c:v>
                </c:pt>
                <c:pt idx="90">
                  <c:v>0.9302051067352296</c:v>
                </c:pt>
                <c:pt idx="91">
                  <c:v>0.9302051067352296</c:v>
                </c:pt>
                <c:pt idx="92">
                  <c:v>0.9302051067352296</c:v>
                </c:pt>
                <c:pt idx="93">
                  <c:v>0.9302051067352296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Alert fired</c:v>
                </c:pt>
              </c:strCache>
            </c:strRef>
          </c:tx>
          <c:spPr>
            <a:ln w="31750">
              <a:noFill/>
            </a:ln>
          </c:spPr>
          <c:marker>
            <c:symbol val="triangle"/>
            <c:size val="13"/>
            <c:spPr>
              <a:solidFill>
                <a:srgbClr val="D6454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</c:strCache>
            </c:strRef>
          </c:cat>
          <c:val>
            <c:numRef>
              <c:f>Sheet1!$D$2:$D$95</c:f>
              <c:numCache>
                <c:formatCode>General</c:formatCode>
                <c:ptCount val="94"/>
                <c:pt idx="71">
                  <c:v>0.9843</c:v>
                </c:pt>
                <c:pt idx="80">
                  <c:v>0.9454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First fault line</c:v>
                </c:pt>
              </c:strCache>
            </c:strRef>
          </c:tx>
          <c:spPr>
            <a:ln w="31750">
              <a:noFill/>
            </a:ln>
          </c:spPr>
          <c:marker>
            <c:symbol val="diamond"/>
            <c:size val="13"/>
            <c:spPr>
              <a:solidFill>
                <a:srgbClr val="1B2A3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</c:strCache>
            </c:strRef>
          </c:cat>
          <c:val>
            <c:numRef>
              <c:f>Sheet1!$E$2:$E$95</c:f>
              <c:numCache>
                <c:formatCode>General</c:formatCode>
                <c:ptCount val="94"/>
                <c:pt idx="74">
                  <c:v>0.9782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Calibri"/>
                  </a:rPr>
                  <a:t>Window (20 log lines each)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7DEE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B2A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B2A3A"/>
                </a:solidFill>
                <a:latin typeface="Calibri"/>
              </a:rPr>
              <a:t>RoBERTa: precision and recall on held-out test data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9E5B"/>
            </a:solidFill>
          </c:spPr>
          <c:cat>
            <c:strRef>
              <c:f>Sheet1!$A$2:$A$3</c:f>
              <c:strCache>
                <c:ptCount val="2"/>
                <c:pt idx="0">
                  <c:v>Window-level</c:v>
                </c:pt>
                <c:pt idx="1">
                  <c:v>Incident-level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0.9643765903307888</c:v>
                </c:pt>
                <c:pt idx="1">
                  <c:v>0.3428571428571428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(incident-level: faults warned)</c:v>
                </c:pt>
              </c:strCache>
            </c:strRef>
          </c:tx>
          <c:spPr>
            <a:solidFill>
              <a:srgbClr val="2E8BC0"/>
            </a:solidFill>
          </c:spPr>
          <c:cat>
            <c:strRef>
              <c:f>Sheet1!$A$2:$A$3</c:f>
              <c:strCache>
                <c:ptCount val="2"/>
                <c:pt idx="0">
                  <c:v>Window-level</c:v>
                </c:pt>
                <c:pt idx="1">
                  <c:v>Incident-level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0.3032</c:v>
                </c:pt>
                <c:pt idx="1">
                  <c:v>0.1605504587155963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EE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B2A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B2A3A"/>
                </a:solidFill>
                <a:latin typeface="Calibri"/>
              </a:rPr>
              <a:t>Validation sweep for RoBERTa at cooldown 0 (incident-level)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 precision</c:v>
                </c:pt>
              </c:strCache>
            </c:strRef>
          </c:tx>
          <c:spPr>
            <a:ln w="31750">
              <a:solidFill>
                <a:srgbClr val="2E9E5B"/>
              </a:solidFill>
            </a:ln>
          </c:spPr>
          <c:marker>
            <c:symbol val="circle"/>
            <c:size val="8"/>
            <c:spPr>
              <a:solidFill>
                <a:srgbClr val="2E9E5B"/>
              </a:solidFill>
              <a:ln>
                <a:solidFill>
                  <a:srgbClr val="2E9E5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N = 1</c:v>
                </c:pt>
                <c:pt idx="1">
                  <c:v>N = 2</c:v>
                </c:pt>
                <c:pt idx="2">
                  <c:v>N = 3</c:v>
                </c:pt>
                <c:pt idx="3">
                  <c:v>N = 5</c:v>
                </c:pt>
                <c:pt idx="4">
                  <c:v>N = 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0.1366906474820144</c:v>
                </c:pt>
                <c:pt idx="1">
                  <c:v>0.1304347826086956</c:v>
                </c:pt>
                <c:pt idx="2">
                  <c:v>0.1785714285714285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Episode recall (faults caught)</c:v>
                </c:pt>
              </c:strCache>
            </c:strRef>
          </c:tx>
          <c:spPr>
            <a:ln w="31750">
              <a:solidFill>
                <a:srgbClr val="E8A13A"/>
              </a:solidFill>
            </a:ln>
          </c:spPr>
          <c:marker>
            <c:symbol val="circle"/>
            <c:size val="8"/>
            <c:spPr>
              <a:solidFill>
                <a:srgbClr val="E8A13A"/>
              </a:solidFill>
              <a:ln>
                <a:solidFill>
                  <a:srgbClr val="E8A13A"/>
                </a:solidFill>
              </a:ln>
            </c:spPr>
          </c:marker>
          <c:dLbls>
            <c:numFmt formatCode="0.0%" sourceLinked="0"/>
            <c:txPr>
              <a:bodyPr/>
              <a:lstStyle/>
              <a:p>
                <a:pPr>
                  <a:defRPr sz="1200">
                    <a:latin typeface="Calibri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 = 1</c:v>
                </c:pt>
                <c:pt idx="1">
                  <c:v>N = 2</c:v>
                </c:pt>
                <c:pt idx="2">
                  <c:v>N = 3</c:v>
                </c:pt>
                <c:pt idx="3">
                  <c:v>N = 5</c:v>
                </c:pt>
                <c:pt idx="4">
                  <c:v>N = 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0.087431693989071</c:v>
                </c:pt>
                <c:pt idx="1">
                  <c:v>0.0491803278688524</c:v>
                </c:pt>
                <c:pt idx="2">
                  <c:v>0.0218579234972677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EE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B2A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B2A3A"/>
                </a:solidFill>
                <a:latin typeface="Calibri"/>
              </a:rPr>
              <a:t>How early the warning came: 35 faults warned in advance (held-out test)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Faults warned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Sheet1!$A$2:$A$7</c:f>
              <c:strCache>
                <c:ptCount val="6"/>
                <c:pt idx="0">
                  <c:v>0-4 s</c:v>
                </c:pt>
                <c:pt idx="1">
                  <c:v>4-8 s</c:v>
                </c:pt>
                <c:pt idx="2">
                  <c:v>8-12 s</c:v>
                </c:pt>
                <c:pt idx="3">
                  <c:v>12-16 s</c:v>
                </c:pt>
                <c:pt idx="4">
                  <c:v>16-20 s</c:v>
                </c:pt>
                <c:pt idx="5">
                  <c:v>over 20 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7</c:v>
                </c:pt>
                <c:pt idx="3">
                  <c:v>18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EE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A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demo for Review 2. Owners: Ritvik Battula and Shaurya Kumar.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starting: make sure Ollama is running and pre-warm the model (the daemon sends a 1-token warm-up call at start; run the demo once beforehand so llama3.2:3b is loaded). Start from the dashboard sidebar: model RoBERTa, 'Model's showcase' slice, speed 200 lines/s.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OS Fault-Prediction Daemon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8229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B8C7D6"/>
                </a:solidFill>
                <a:latin typeface="Calibri"/>
              </a:rPr>
              <a:t>Predicts system faults before they happen, and explains them in plain English.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5486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Ritvik Battula  (24BAI0156)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Shaurya Kumar  (24BCE0876)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600" b="0" i="0">
                <a:solidFill>
                  <a:srgbClr val="B8C7D6"/>
                </a:solidFill>
                <a:latin typeface="Calibri"/>
              </a:rPr>
              <a:t>VIT Vellore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73736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372600" y="4297680"/>
            <a:ext cx="201168" cy="457200"/>
          </a:xfrm>
          <a:prstGeom prst="roundRect">
            <a:avLst>
              <a:gd name="adj" fmla="val 2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701784" y="4114800"/>
            <a:ext cx="201168" cy="640080"/>
          </a:xfrm>
          <a:prstGeom prst="roundRect">
            <a:avLst>
              <a:gd name="adj" fmla="val 2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0030968" y="4206240"/>
            <a:ext cx="201168" cy="548640"/>
          </a:xfrm>
          <a:prstGeom prst="roundRect">
            <a:avLst>
              <a:gd name="adj" fmla="val 2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360152" y="3931920"/>
            <a:ext cx="201168" cy="822960"/>
          </a:xfrm>
          <a:prstGeom prst="roundRect">
            <a:avLst>
              <a:gd name="adj" fmla="val 2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0689336" y="3566160"/>
            <a:ext cx="201168" cy="1188720"/>
          </a:xfrm>
          <a:prstGeom prst="roundRect">
            <a:avLst>
              <a:gd name="adj" fmla="val 2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018520" y="3017520"/>
            <a:ext cx="201168" cy="1737360"/>
          </a:xfrm>
          <a:prstGeom prst="roundRect">
            <a:avLst>
              <a:gd name="adj" fmla="val 2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347704" y="2377440"/>
            <a:ext cx="201168" cy="2377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81160" y="182880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B8C7D6"/>
                </a:solidFill>
                <a:latin typeface="Calibri"/>
              </a:rPr>
              <a:t>risk rising → alert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6035040" cy="480060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120640" cy="118872"/>
          </a:xfrm>
          <a:prstGeom prst="roundRect">
            <a:avLst>
              <a:gd name="adj" fmla="val 50000"/>
            </a:avLst>
          </a:prstGeom>
          <a:solidFill>
            <a:srgbClr val="35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77240" y="1911095"/>
            <a:ext cx="3749039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457200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2441448"/>
            <a:ext cx="2926080" cy="118872"/>
          </a:xfrm>
          <a:prstGeom prst="roundRect">
            <a:avLst>
              <a:gd name="adj" fmla="val 50000"/>
            </a:avLst>
          </a:prstGeom>
          <a:solidFill>
            <a:srgbClr val="35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77240" y="2706624"/>
            <a:ext cx="530352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77240" y="3236976"/>
            <a:ext cx="2651760" cy="118872"/>
          </a:xfrm>
          <a:prstGeom prst="roundRect">
            <a:avLst>
              <a:gd name="adj" fmla="val 50000"/>
            </a:avLst>
          </a:prstGeom>
          <a:solidFill>
            <a:srgbClr val="35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77240" y="3502152"/>
            <a:ext cx="475488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3767328"/>
            <a:ext cx="402336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4032504"/>
            <a:ext cx="5394960" cy="118872"/>
          </a:xfrm>
          <a:prstGeom prst="roundRect">
            <a:avLst>
              <a:gd name="adj" fmla="val 50000"/>
            </a:avLst>
          </a:prstGeom>
          <a:solidFill>
            <a:srgbClr val="35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329184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77240" y="4562856"/>
            <a:ext cx="448056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828031"/>
            <a:ext cx="4937760" cy="118872"/>
          </a:xfrm>
          <a:prstGeom prst="roundRect">
            <a:avLst>
              <a:gd name="adj" fmla="val 50000"/>
            </a:avLst>
          </a:prstGeom>
          <a:solidFill>
            <a:srgbClr val="35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5093207"/>
            <a:ext cx="3566160" cy="118872"/>
          </a:xfrm>
          <a:prstGeom prst="roundRect">
            <a:avLst>
              <a:gd name="adj" fmla="val 50000"/>
            </a:avLst>
          </a:prstGeom>
          <a:solidFill>
            <a:srgbClr val="2B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77240" y="5449823"/>
            <a:ext cx="5577840" cy="384048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5449823"/>
            <a:ext cx="53949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SYSTEM FAILURE  -  noticed only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1732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1508760"/>
            <a:ext cx="43891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7293"/>
                </a:solidFill>
                <a:latin typeface="Calibri"/>
              </a:rPr>
              <a:t>4,713,493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9456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log lines in one supercomputer system log (BGL)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10896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0" y="3200400"/>
            <a:ext cx="43891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C7293"/>
                </a:solidFill>
                <a:latin typeface="Calibri"/>
              </a:rPr>
              <a:t>585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8620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distinct message types in the training period alone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80060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0" y="4892040"/>
            <a:ext cx="43891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64545"/>
                </a:solidFill>
                <a:latin typeface="Calibri"/>
              </a:rPr>
              <a:t>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7784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the fault: that is when operators usually find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Meet the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4206240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" y="1755648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600200" y="15819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3A"/>
                </a:solidFill>
                <a:latin typeface="Calibri"/>
              </a:rPr>
              <a:t>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7568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reads the system log as a live stream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761488"/>
            <a:ext cx="0" cy="237744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3017520"/>
            <a:ext cx="4206240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sosceles Triangle 8"/>
          <p:cNvSpPr/>
          <p:nvPr/>
        </p:nvSpPr>
        <p:spPr>
          <a:xfrm>
            <a:off x="731520" y="3355848"/>
            <a:ext cx="640080" cy="640080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00200" y="31821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3A"/>
                </a:solidFill>
                <a:latin typeface="Calibri"/>
              </a:rP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75887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spots the run-up to a fault early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4361688"/>
            <a:ext cx="0" cy="237743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4617720"/>
            <a:ext cx="4206240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ular Callout 13"/>
          <p:cNvSpPr/>
          <p:nvPr/>
        </p:nvSpPr>
        <p:spPr>
          <a:xfrm>
            <a:off x="731520" y="4956048"/>
            <a:ext cx="640080" cy="640080"/>
          </a:xfrm>
          <a:prstGeom prst="wedgeRoundRectCallou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600200" y="4782312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3A"/>
                </a:solidFill>
                <a:latin typeface="Calibri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27608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writes a plain-English incident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417320"/>
            <a:ext cx="6583680" cy="480060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285231" y="1554480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504688" y="1554480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724144" y="1554480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0" y="1472184"/>
            <a:ext cx="5577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Live dashboard - simulated live stream from held-out BGL logs</a:t>
            </a:r>
          </a:p>
        </p:txBody>
      </p:sp>
      <p:pic>
        <p:nvPicPr>
          <p:cNvPr id="22" name="Picture 2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02960"/>
            <a:ext cx="6309360" cy="3331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103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21031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7D6"/>
                </a:solidFill>
                <a:latin typeface="Calibri"/>
              </a:rPr>
              <a:t>held-out log lines stream in, 20 lines per window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7248" y="3200400"/>
            <a:ext cx="237744" cy="0"/>
          </a:xfrm>
          <a:prstGeom prst="line">
            <a:avLst/>
          </a:prstGeom>
          <a:ln w="22225">
            <a:solidFill>
              <a:srgbClr val="2E8B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55448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1880" y="17830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06040"/>
            <a:ext cx="2103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Confidence climbs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29000"/>
            <a:ext cx="21031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7D6"/>
                </a:solidFill>
                <a:latin typeface="Calibri"/>
              </a:rPr>
              <a:t>the model scores every window; watch it cross the threshold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1888" y="3200400"/>
            <a:ext cx="237744" cy="0"/>
          </a:xfrm>
          <a:prstGeom prst="line">
            <a:avLst/>
          </a:prstGeom>
          <a:ln w="22225">
            <a:solidFill>
              <a:srgbClr val="2E8B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155448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2103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Incident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21031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7D6"/>
                </a:solidFill>
                <a:latin typeface="Calibri"/>
              </a:rPr>
              <a:t>the alert gate turns a run of flagged windows into one incident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3200400"/>
            <a:ext cx="237744" cy="0"/>
          </a:xfrm>
          <a:prstGeom prst="line">
            <a:avLst/>
          </a:prstGeom>
          <a:ln w="22225">
            <a:solidFill>
              <a:srgbClr val="2E8B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60" y="155448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81160" y="17830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606040"/>
            <a:ext cx="21031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Card appears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429000"/>
            <a:ext cx="21031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7D6"/>
                </a:solidFill>
                <a:latin typeface="Calibri"/>
              </a:rPr>
              <a:t>the local LLM writes summary, component, severity,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Simulated live stream from held-out BGL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One fault, start to finish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680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95360" y="1371600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0" y="1508760"/>
            <a:ext cx="2743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E9E5B"/>
                </a:solidFill>
                <a:latin typeface="Calibri"/>
              </a:rPr>
              <a:t>59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240280"/>
            <a:ext cx="27432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warning before the first fault line (9 s of log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840480"/>
            <a:ext cx="3108960" cy="2377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0" y="3977639"/>
            <a:ext cx="27432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2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617720"/>
            <a:ext cx="274320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47A"/>
                </a:solidFill>
                <a:latin typeface="Calibri"/>
              </a:rPr>
              <a:t>1 before the fault, 1 once it had started, 0 false alarms on this slice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46304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Streamlit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29000" y="160020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live log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60020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40680" y="160020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confidence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0020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52360" y="160020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incident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60020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64040" y="160020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demo launcher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46304" cy="96012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Daemon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Python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83464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29000" y="28346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stream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83464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40680" y="28346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windowing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83464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52360" y="28346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alert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83464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64040" y="28346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incident builder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146304" cy="96012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3950208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Models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PyTorch + Ollama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069080"/>
            <a:ext cx="3108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29000" y="406908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RoBERTa detect()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069080"/>
            <a:ext cx="310896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20840" y="406908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Llama 3.2 3B incident writer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7492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5074920"/>
            <a:ext cx="146304" cy="960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5184648"/>
            <a:ext cx="2377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BGL + Drain3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530352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29000" y="530352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BGL system 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530352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40680" y="530352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Drain3 templates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530352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452360" y="530352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20-line windows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4040" y="530352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464040" y="530352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saved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System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114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7293"/>
                </a:solidFill>
                <a:latin typeface="Calibri"/>
              </a:rPr>
              <a:t>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5661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Preprocess logs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2651760"/>
            <a:ext cx="0" cy="33832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990088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990088"/>
            <a:ext cx="35661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Train 4 models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3675887"/>
            <a:ext cx="0" cy="338329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4014216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4014216"/>
            <a:ext cx="35661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Evaluate on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40" y="4700016"/>
            <a:ext cx="0" cy="33832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5038344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5038344"/>
            <a:ext cx="35661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Select the best</a:t>
            </a:r>
          </a:p>
        </p:txBody>
      </p:sp>
      <p:sp>
        <p:nvSpPr>
          <p:cNvPr id="16" name="Document 15"/>
          <p:cNvSpPr/>
          <p:nvPr/>
        </p:nvSpPr>
        <p:spPr>
          <a:xfrm>
            <a:off x="5257800" y="1417320"/>
            <a:ext cx="1554480" cy="777240"/>
          </a:xfrm>
          <a:prstGeom prst="flowChartDocument">
            <a:avLst/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57800" y="1417320"/>
            <a:ext cx="15544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Held-out BGL log</a:t>
            </a:r>
          </a:p>
        </p:txBody>
      </p:sp>
      <p:sp>
        <p:nvSpPr>
          <p:cNvPr id="18" name="Can 17"/>
          <p:cNvSpPr/>
          <p:nvPr/>
        </p:nvSpPr>
        <p:spPr>
          <a:xfrm>
            <a:off x="5257800" y="2743200"/>
            <a:ext cx="1554480" cy="1828800"/>
          </a:xfrm>
          <a:prstGeom prst="ca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7800" y="3246120"/>
            <a:ext cx="15544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Model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42976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A1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89520" y="146304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A13A"/>
                </a:solidFill>
                <a:latin typeface="Calibri"/>
              </a:rPr>
              <a:t>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920240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0" y="1920240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Replay held-out 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423160"/>
            <a:ext cx="0" cy="20116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80960" y="2624328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0" y="2624328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Cut 20-line windows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3127248"/>
            <a:ext cx="0" cy="20116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80960" y="3328416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0" y="3328416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detect()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831335"/>
            <a:ext cx="0" cy="201169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80960" y="4032504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80960" y="4032504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Alert gate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55480" y="4535424"/>
            <a:ext cx="0" cy="20116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80960" y="4736592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80960" y="4736592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LLM incident card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55480" y="5239512"/>
            <a:ext cx="0" cy="201168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80960" y="5440680"/>
            <a:ext cx="3749039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80960" y="5440680"/>
            <a:ext cx="374903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Dashboard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389120" y="4434840"/>
            <a:ext cx="1005840" cy="950976"/>
          </a:xfrm>
          <a:prstGeom prst="line">
            <a:avLst/>
          </a:prstGeom>
          <a:ln w="22225">
            <a:solidFill>
              <a:srgbClr val="1C72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983480" y="5029200"/>
            <a:ext cx="685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1C7293"/>
                </a:solidFill>
                <a:latin typeface="Calibri"/>
              </a:rPr>
              <a:t>writes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12280" y="3584448"/>
            <a:ext cx="868680" cy="0"/>
          </a:xfrm>
          <a:prstGeom prst="line">
            <a:avLst/>
          </a:prstGeom>
          <a:ln w="22225">
            <a:solidFill>
              <a:srgbClr val="E8A1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0" y="320040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E8A13A"/>
                </a:solidFill>
                <a:latin typeface="Calibri"/>
              </a:rPr>
              <a:t>loads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12280" y="1783080"/>
            <a:ext cx="868680" cy="384048"/>
          </a:xfrm>
          <a:prstGeom prst="line">
            <a:avLst/>
          </a:prstGeom>
          <a:ln w="22225">
            <a:solidFill>
              <a:srgbClr val="E8A1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12280" y="210312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E8A13A"/>
                </a:solidFill>
                <a:latin typeface="Calibri"/>
              </a:rPr>
              <a:t>streams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How it decides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011680"/>
            <a:ext cx="1463040" cy="822960"/>
          </a:xfrm>
          <a:prstGeom prst="ellipse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2801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01168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468880" y="201168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Read next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1168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detect() → confidence</a:t>
            </a:r>
          </a:p>
        </p:txBody>
      </p:sp>
      <p:sp>
        <p:nvSpPr>
          <p:cNvPr id="9" name="Diamond 8"/>
          <p:cNvSpPr/>
          <p:nvPr/>
        </p:nvSpPr>
        <p:spPr>
          <a:xfrm>
            <a:off x="7132320" y="1828800"/>
            <a:ext cx="2377440" cy="1188720"/>
          </a:xfrm>
          <a:prstGeom prst="diamond">
            <a:avLst/>
          </a:prstGeom>
          <a:solidFill>
            <a:srgbClr val="FFF4E0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23759" y="182880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Calibri"/>
              </a:rPr>
              <a:t>conf ≥ τ (0.930)?</a:t>
            </a:r>
          </a:p>
        </p:txBody>
      </p:sp>
      <p:sp>
        <p:nvSpPr>
          <p:cNvPr id="11" name="Diamond 10"/>
          <p:cNvSpPr/>
          <p:nvPr/>
        </p:nvSpPr>
        <p:spPr>
          <a:xfrm>
            <a:off x="7132320" y="3931920"/>
            <a:ext cx="2377440" cy="1463040"/>
          </a:xfrm>
          <a:prstGeom prst="diamond">
            <a:avLst/>
          </a:prstGeom>
          <a:solidFill>
            <a:srgbClr val="FFF4E0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23759" y="3931920"/>
            <a:ext cx="219456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Calibri"/>
              </a:rPr>
              <a:t>streak ≥ N (1) and cooldown 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25196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425196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Aggregate the episode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25196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68880" y="425196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A3A"/>
                </a:solidFill>
                <a:latin typeface="Calibri"/>
              </a:rPr>
              <a:t>LLM incident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2801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Dashboard + start cooldown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2423160"/>
            <a:ext cx="365760" cy="0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89120" y="2423160"/>
            <a:ext cx="365760" cy="0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2423160"/>
            <a:ext cx="365760" cy="0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21040" y="3017520"/>
            <a:ext cx="0" cy="914400"/>
          </a:xfrm>
          <a:prstGeom prst="line">
            <a:avLst/>
          </a:prstGeom>
          <a:ln w="22225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0" y="32461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5B"/>
                </a:solidFill>
                <a:latin typeface="Calibri"/>
              </a:rPr>
              <a:t>yes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766560" y="4663440"/>
            <a:ext cx="365760" cy="0"/>
          </a:xfrm>
          <a:prstGeom prst="line">
            <a:avLst/>
          </a:prstGeom>
          <a:ln w="22225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84848" y="429768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5B"/>
                </a:solidFill>
                <a:latin typeface="Calibri"/>
              </a:rP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389120" y="4663440"/>
            <a:ext cx="365760" cy="0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011680" y="4663440"/>
            <a:ext cx="365760" cy="0"/>
          </a:xfrm>
          <a:prstGeom prst="line">
            <a:avLst/>
          </a:prstGeom>
          <a:ln w="22225">
            <a:solidFill>
              <a:srgbClr val="5064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509760" y="2423160"/>
            <a:ext cx="1005840" cy="0"/>
          </a:xfrm>
          <a:prstGeom prst="line">
            <a:avLst/>
          </a:prstGeom>
          <a:ln w="22225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09760" y="4663440"/>
            <a:ext cx="1005840" cy="0"/>
          </a:xfrm>
          <a:prstGeom prst="line">
            <a:avLst/>
          </a:prstGeom>
          <a:ln w="22225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515600" y="1600200"/>
            <a:ext cx="0" cy="3063240"/>
          </a:xfrm>
          <a:prstGeom prst="line">
            <a:avLst/>
          </a:prstGeom>
          <a:ln w="22225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383280" y="1600200"/>
            <a:ext cx="7132320" cy="0"/>
          </a:xfrm>
          <a:prstGeom prst="line">
            <a:avLst/>
          </a:prstGeom>
          <a:ln w="22225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83280" y="1600200"/>
            <a:ext cx="0" cy="411480"/>
          </a:xfrm>
          <a:prstGeom prst="line">
            <a:avLst/>
          </a:prstGeom>
          <a:ln w="22225">
            <a:solidFill>
              <a:srgbClr val="D6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46920" y="205740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29768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715000"/>
            <a:ext cx="11155680" cy="548640"/>
          </a:xfrm>
          <a:prstGeom prst="roundRect">
            <a:avLst>
              <a:gd name="adj" fmla="val 3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libri"/>
              </a:rPr>
              <a:t>One fault episode = one alert: a run of flagged windows becomes a single 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Dataset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206240" cy="960120"/>
          </a:xfrm>
          <a:prstGeom prst="roundRect">
            <a:avLst>
              <a:gd name="adj" fmla="val 8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023359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4,713,493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raw log 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3749039" cy="96012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3566159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585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Drain3 templates (from training lines)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39" y="384048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79" y="3886200"/>
            <a:ext cx="3108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112,331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labelled 20-line windows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39" y="507492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79" y="5120640"/>
            <a:ext cx="2651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2.83%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pre-fault windows in held-out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371600"/>
            <a:ext cx="658368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03520" y="146304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How a window is labelled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965960"/>
            <a:ext cx="1737360" cy="6858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49240" y="1965960"/>
            <a:ext cx="1737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20-line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965960"/>
            <a:ext cx="2560320" cy="6858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0" y="1965960"/>
            <a:ext cx="2560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3A"/>
                </a:solidFill>
                <a:latin typeface="Calibri"/>
              </a:rPr>
              <a:t>look-ahead: next 100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1965960"/>
            <a:ext cx="1371600" cy="68580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04120" y="1965960"/>
            <a:ext cx="13716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43200"/>
            <a:ext cx="6217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0647A"/>
                </a:solidFill>
                <a:latin typeface="Calibri"/>
              </a:rPr>
              <a:t>Pre-fault if a fault line follows within 100 lines.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Windows that already contain a fault line are excluded.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120640" y="3977639"/>
          <a:ext cx="6583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Pre-fault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Pre-fault rate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47,311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4,301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9.09%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20,896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1,087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Test (held out)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44,124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1,250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2.83%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120640" y="589788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0647A"/>
                </a:solidFill>
                <a:latin typeface="Calibri"/>
              </a:rPr>
              <a:t>Chronological split 70 / 10 / 20. Train negatives sampled 10:1; validation and test keep the real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Module identification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Data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46304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Model training &amp;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57800" y="2011680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21040" y="16002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46304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Daemon / stream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0" y="2011680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517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74320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Alert gate (τ / N / cooldown)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3291839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463040" y="3291839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6517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26280" y="288036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26280" y="288036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274320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Incident reporting (LLM)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3291839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57800" y="3291839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265176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321040" y="288036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21040" y="288036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743200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291839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0" y="3291839"/>
            <a:ext cx="12344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0647A"/>
                </a:solidFill>
                <a:latin typeface="Calibri"/>
              </a:rPr>
              <a:t>Planned upgrades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6344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663440"/>
            <a:ext cx="22860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8BC0"/>
                </a:solidFill>
                <a:latin typeface="Calibri"/>
              </a:rPr>
              <a:t>Detector explainability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66344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520440" y="4663440"/>
            <a:ext cx="22860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8BC0"/>
                </a:solidFill>
                <a:latin typeface="Calibri"/>
              </a:rPr>
              <a:t>Drift monitor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66344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55080" y="4663440"/>
            <a:ext cx="22860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8BC0"/>
                </a:solidFill>
                <a:latin typeface="Calibri"/>
              </a:rPr>
              <a:t>Incident correlation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466344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189720" y="4663440"/>
            <a:ext cx="22860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8BC0"/>
                </a:solidFill>
                <a:latin typeface="Calibri"/>
              </a:rPr>
              <a:t>Live journalctl monitoring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97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4400" y="5824728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0647A"/>
                </a:solidFill>
                <a:latin typeface="Calibri"/>
              </a:rPr>
              <a:t>Operational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51760" y="5897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017520" y="5824728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0647A"/>
                </a:solidFill>
                <a:latin typeface="Calibri"/>
              </a:rPr>
              <a:t>Pending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79" y="5897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120640" y="5824728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0647A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Module completion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546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Operational  (7)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54680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Data preprocessing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Model training &amp; selection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Daemon / stream loop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Alert gate (τ / N / cooldown)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Incident reporting (LLM)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Dashboard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4-model comparison with the best deployed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1371600"/>
            <a:ext cx="31546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Pending  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54680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None: every core module runs end to end on the held-out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2044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1546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Planned 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154680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Detector explainability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Drift monitor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Incident correlation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500" b="0" i="0">
                <a:solidFill>
                  <a:srgbClr val="1B2A3A"/>
                </a:solidFill>
                <a:latin typeface="Calibri"/>
              </a:rPr>
              <a:t>•  Live journalctl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Choosing the brain: 4 models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7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885"/>
                <a:gridCol w="1529407"/>
                <a:gridCol w="1439442"/>
                <a:gridCol w="1349477"/>
                <a:gridCol w="1349477"/>
                <a:gridCol w="1349477"/>
                <a:gridCol w="125951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Window precision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Window recall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Window F1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 PR-AUC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 PR-AUC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ms / window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RoBERTa   ✓ Selected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30.3%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0.473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DistilBERT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94.6%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17.0%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0.288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0.378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ELECTRA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95.4%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0.431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Gradient-boosted trees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0.363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0.213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709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10789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How to read this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Window-level metrics on unseen test data, each model at its own threshold (lowest threshold reaching 80% precision on validation). Selection metric: validation PR-AUC.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How each model performs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9E5B"/>
                </a:solidFill>
                <a:latin typeface="Calibri"/>
              </a:rPr>
              <a:t>RoBERTa   ✓ Selected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65960"/>
          <a:ext cx="50292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normal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pre-fault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normal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42,860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14 false alarms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pre-fault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871 missed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379 caught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59" y="137160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DistilBERT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965960"/>
          <a:ext cx="50292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normal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pre-fault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normal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42,862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12 false alarms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pre-fault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1,038 missed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212 caught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70332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794759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ELECTRA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297680"/>
          <a:ext cx="50292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normal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pre-fault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normal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42,865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 false alarms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pre-fault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1,063 missed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187 caught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59" y="370332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3794759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Gradient-boosted trees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92240" y="4297680"/>
          <a:ext cx="50292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normal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Predicted pre-fault</a:t>
                      </a:r>
                    </a:p>
                  </a:txBody>
                  <a:tcPr marL="73152" marR="73152" marT="27432" marB="27432" anchor="ctr">
                    <a:solidFill>
                      <a:srgbClr val="1329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normal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42,874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 false alarms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Actually pre-fault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1,235 missed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15 caught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053328"/>
            <a:ext cx="111556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0647A"/>
                </a:solidFill>
                <a:latin typeface="Calibri"/>
              </a:rPr>
              <a:t>False positives = false alarms; each model's threshold was set to keep them low. Window-level counts on held-out test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Alerts that matter: incident-level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989"/>
                <a:gridCol w="1349477"/>
                <a:gridCol w="1079581"/>
                <a:gridCol w="1259512"/>
                <a:gridCol w="1169547"/>
                <a:gridCol w="1079581"/>
                <a:gridCol w="1349477"/>
                <a:gridCol w="125951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Gate (N, cooldown)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Alerts fired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Before the fault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During a fault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False alarms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Incident precision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Faults warned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RoBERTa   ✓ Selected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1, 0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34.3%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35 / 218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DistilBERT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2, 30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57.7%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30 / 218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ELECTRA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1, 0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45.2%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51 / 218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Gradient-boosted trees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1, 5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70.6%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12 / 218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709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10789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Incident-level, held-out test data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One incident = one alert to an operator. Incident precision counts only alerts that came before a fault started (within 100 lines); alerts during a fault are not credited.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Why we chose RoBERTa</a:t>
            </a:r>
          </a:p>
        </p:txBody>
      </p:sp>
      <p:pic>
        <p:nvPicPr>
          <p:cNvPr id="3" name="Picture 2" descr="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371600"/>
            <a:ext cx="576072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49440" y="137160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949440" y="1371600"/>
            <a:ext cx="109728" cy="1188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78040" y="1444752"/>
            <a:ext cx="4389120" cy="10424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Best at ranking risk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highest PR-AUC of the 4: validation 0.259, test 0.473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83464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0" y="2834640"/>
            <a:ext cx="109728" cy="1188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78040" y="2907792"/>
            <a:ext cx="4389120" cy="10424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Fast enough for live use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14.0 ms to score a 20-line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29768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0" y="4297680"/>
            <a:ext cx="109728" cy="1188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78040" y="4370832"/>
            <a:ext cx="4389120" cy="10424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Runs locally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3.7 GB peak VRAM while training on a 6 GB laptop GPU; no cloud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0644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1556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Picked on the validation set, confirmed on unseen test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Built for precision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309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223760" y="1371600"/>
            <a:ext cx="44805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06640" y="1463040"/>
            <a:ext cx="4114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E9E5B"/>
                </a:solidFill>
                <a:latin typeface="Calibri"/>
              </a:rPr>
              <a:t>34%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423160"/>
            <a:ext cx="41148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B2A3A"/>
                </a:solidFill>
                <a:latin typeface="Calibri"/>
              </a:rPr>
              <a:t>of alerts arrive before a real fault starts (incident-level)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023360"/>
            <a:ext cx="4480560" cy="14630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0" y="4069080"/>
            <a:ext cx="41148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7293"/>
                </a:solidFill>
                <a:latin typeface="Calibri"/>
              </a:rPr>
              <a:t>93%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of alerts coincide with a real fault, before or during it (incident-level)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60720"/>
            <a:ext cx="3520440" cy="548640"/>
          </a:xfrm>
          <a:prstGeom prst="roundRect">
            <a:avLst>
              <a:gd name="adj" fmla="val 30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Whole windows kept: 1.1% truncated at 512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760720"/>
            <a:ext cx="3520440" cy="548640"/>
          </a:xfrm>
          <a:prstGeom prst="roundRect">
            <a:avLst>
              <a:gd name="adj" fmla="val 30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34840" y="5760720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Ambiguity buffer: 200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760720"/>
            <a:ext cx="3520440" cy="548640"/>
          </a:xfrm>
          <a:prstGeom prst="roundRect">
            <a:avLst>
              <a:gd name="adj" fmla="val 30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Tuned gate: τ 0.930, N 1, cooldown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What drives precision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49807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991"/>
                <a:gridCol w="1004897"/>
                <a:gridCol w="1236796"/>
                <a:gridCol w="1159496"/>
                <a:gridCol w="100489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 PR-AUC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Window precision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Window recall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 time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RoBERTa, all design choices (full training)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30.3%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48 min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All choices on, 1-epoch retrain (reference)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Without whole-window text rendering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0.196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8 min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Without the ambiguity buffer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97.7%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27.0%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Without overlapping training windows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0.219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23.0%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8 min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Without negative downsampling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0.262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25.8%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84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0" y="13716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0" y="1463040"/>
            <a:ext cx="2926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9E5B"/>
                </a:solidFill>
                <a:latin typeface="Calibri"/>
              </a:rPr>
              <a:t>Biggest lever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800" b="1" i="0">
                <a:solidFill>
                  <a:srgbClr val="1B2A3A"/>
                </a:solidFill>
                <a:latin typeface="Calibri"/>
              </a:rPr>
              <a:t>Whole-window text rendering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switching it off drops validation PR-AUC by 0.050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40233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0" y="4114800"/>
            <a:ext cx="29260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How it was tested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0" i="0">
                <a:solidFill>
                  <a:srgbClr val="50647A"/>
                </a:solidFill>
                <a:latin typeface="Calibri"/>
              </a:rPr>
              <a:t>Each choice switched off in turn and the model retrained for one epoch; compare with the 1-epoch reference 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74980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0647A"/>
                </a:solidFill>
                <a:latin typeface="Calibri"/>
              </a:rPr>
              <a:t>Window-level precision and recall on held-out test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Tuning the alert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0647A"/>
                </a:solidFill>
                <a:latin typeface="Calibri"/>
              </a:rPr>
              <a:t>Threshold τ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>
                <a:solidFill>
                  <a:srgbClr val="E8A13A"/>
                </a:solidFill>
                <a:latin typeface="Calibri"/>
              </a:rPr>
              <a:t>0.930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200" b="0" i="0">
                <a:solidFill>
                  <a:srgbClr val="50647A"/>
                </a:solidFill>
                <a:latin typeface="Calibri"/>
              </a:rPr>
              <a:t>lowest score reaching 80% window precision on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26280" y="141732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0647A"/>
                </a:solidFill>
                <a:latin typeface="Calibri"/>
              </a:rPr>
              <a:t>Streak 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>
                <a:solidFill>
                  <a:srgbClr val="E8A13A"/>
                </a:solidFill>
                <a:latin typeface="Calibri"/>
              </a:rPr>
              <a:t>1 window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200" b="0" i="0">
                <a:solidFill>
                  <a:srgbClr val="50647A"/>
                </a:solidFill>
                <a:latin typeface="Calibri"/>
              </a:rPr>
              <a:t>best balance of incident precision and faults caught on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0647A"/>
                </a:solidFill>
                <a:latin typeface="Calibri"/>
              </a:rPr>
              <a:t>Cooldown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>
                <a:solidFill>
                  <a:srgbClr val="E8A13A"/>
                </a:solidFill>
                <a:latin typeface="Calibri"/>
              </a:rPr>
              <a:t>0 windows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200" b="0" i="0">
                <a:solidFill>
                  <a:srgbClr val="50647A"/>
                </a:solidFill>
                <a:latin typeface="Calibri"/>
              </a:rPr>
              <a:t>flagged runs already merge into one incident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200400"/>
          <a:ext cx="1115568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C7293"/>
                </a:solidFill>
                <a:latin typeface="Calibri"/>
              </a:rPr>
              <a:t>Tuned on validation, never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What the operator 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01168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828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E9E5B"/>
                </a:solidFill>
                <a:latin typeface="Calibri"/>
              </a:rPr>
              <a:t>34%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179222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0647A"/>
                </a:solidFill>
                <a:latin typeface="Calibri"/>
              </a:rPr>
              <a:t>incident precision: alerts that came before a 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371600"/>
            <a:ext cx="201168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1828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libri"/>
              </a:rPr>
              <a:t>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194560"/>
            <a:ext cx="179222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0647A"/>
                </a:solidFill>
                <a:latin typeface="Calibri"/>
              </a:rPr>
              <a:t>of faults warned in advance (35 of 218)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01168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79" y="1463040"/>
            <a:ext cx="1828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libri"/>
              </a:rPr>
              <a:t>12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194560"/>
            <a:ext cx="179222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0647A"/>
                </a:solidFill>
                <a:latin typeface="Calibri"/>
              </a:rPr>
              <a:t>median warning before the fault's first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371600"/>
            <a:ext cx="201168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79" y="1463040"/>
            <a:ext cx="1828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libri"/>
              </a:rPr>
              <a:t>2.5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2194560"/>
            <a:ext cx="179222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0647A"/>
                </a:solidFill>
                <a:latin typeface="Calibri"/>
              </a:rPr>
              <a:t>to write the incident card (llama3.2:3b, local)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371600"/>
            <a:ext cx="201168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84080" y="1463040"/>
            <a:ext cx="18288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libri"/>
              </a:rPr>
              <a:t>14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7" y="2194560"/>
            <a:ext cx="179222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0647A"/>
                </a:solidFill>
                <a:latin typeface="Calibri"/>
              </a:rPr>
              <a:t>to score a 20-line window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48640" y="3429000"/>
          <a:ext cx="111556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Screenshots of all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13232" y="1463039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46303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2144" y="146303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17319" y="13807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Preprocessing: templates, windows, splits</a:t>
            </a:r>
          </a:p>
        </p:txBody>
      </p:sp>
      <p:pic>
        <p:nvPicPr>
          <p:cNvPr id="8" name="Picture 7" descr="pre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46" y="1764792"/>
            <a:ext cx="3839067" cy="16642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3258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28231" y="1463039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647688" y="146303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867144" y="146303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13807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Model comparison: the four models</a:t>
            </a:r>
          </a:p>
        </p:txBody>
      </p:sp>
      <p:pic>
        <p:nvPicPr>
          <p:cNvPr id="14" name="Picture 13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29" y="1764792"/>
            <a:ext cx="4843701" cy="16642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13232" y="3977640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977640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52144" y="3977640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17319" y="38953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Incident card written by the local LLM</a:t>
            </a:r>
          </a:p>
        </p:txBody>
      </p:sp>
      <p:pic>
        <p:nvPicPr>
          <p:cNvPr id="20" name="Picture 19" descr="inciden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019" y="4279392"/>
            <a:ext cx="1881920" cy="166420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6364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28231" y="3977640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647688" y="3977640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67144" y="3977640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0" y="38953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Live dashboard</a:t>
            </a:r>
          </a:p>
        </p:txBody>
      </p:sp>
      <p:pic>
        <p:nvPicPr>
          <p:cNvPr id="26" name="Picture 25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897" y="4279392"/>
            <a:ext cx="3152165" cy="16642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Screenshots (cont.)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493776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13232" y="1463039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46303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2144" y="146303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17319" y="13807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Model comparison: window-level metrics on held-out test data</a:t>
            </a:r>
          </a:p>
        </p:txBody>
      </p:sp>
      <p:pic>
        <p:nvPicPr>
          <p:cNvPr id="8" name="Picture 7" descr="model_comparison_2_window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034082"/>
            <a:ext cx="5166360" cy="38231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325880"/>
            <a:ext cx="5440680" cy="493776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28231" y="1463039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647688" y="146303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867144" y="146303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1380744"/>
            <a:ext cx="4434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Model comparison: incident-level metrics and best model per metric</a:t>
            </a:r>
          </a:p>
        </p:txBody>
      </p:sp>
      <p:pic>
        <p:nvPicPr>
          <p:cNvPr id="14" name="Picture 13" descr="model_comparison_3_incident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79811"/>
            <a:ext cx="5166359" cy="33316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Screenshots (cont.)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155680" cy="4937760"/>
          </a:xfrm>
          <a:prstGeom prst="roundRect">
            <a:avLst>
              <a:gd name="adj" fmla="val 4000"/>
            </a:avLst>
          </a:prstGeom>
          <a:solidFill>
            <a:srgbClr val="0E1B2A"/>
          </a:solidFill>
          <a:ln w="12700">
            <a:solidFill>
              <a:srgbClr val="13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13232" y="1463039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46303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2144" y="146303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17319" y="1380744"/>
            <a:ext cx="10149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8C7D6"/>
                </a:solidFill>
                <a:latin typeface="Calibri"/>
              </a:rPr>
              <a:t>All four models replaying the same held-out slice (evaluation view: bands mark where faults occurred)</a:t>
            </a:r>
          </a:p>
        </p:txBody>
      </p:sp>
      <p:pic>
        <p:nvPicPr>
          <p:cNvPr id="8" name="Picture 7" descr="model_comparison_4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128" y="1764792"/>
            <a:ext cx="4450702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Detector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61264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0647A"/>
                </a:solidFill>
                <a:latin typeface="Calibri"/>
              </a:rPr>
              <a:t>show which log lines pushed the confidence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Drift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97480"/>
            <a:ext cx="61264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0647A"/>
                </a:solidFill>
                <a:latin typeface="Calibri"/>
              </a:rPr>
              <a:t>flag when new, unseen message types start to dominate the 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3192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Incident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931920"/>
            <a:ext cx="61264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0647A"/>
                </a:solidFill>
                <a:latin typeface="Calibri"/>
              </a:rPr>
              <a:t>link related incidents across nodes into one 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6636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Live journalctl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166360"/>
            <a:ext cx="61264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0647A"/>
                </a:solidFill>
                <a:latin typeface="Calibri"/>
              </a:rPr>
              <a:t>run the daemon on a real Linux machine's system journal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2560320" cy="19202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Public dataset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B8C7D6"/>
                </a:solidFill>
                <a:latin typeface="Calibri"/>
              </a:rPr>
              <a:t>BGL system log from Loghub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560320" cy="19202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566160" y="16916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Fine-tuned models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B8C7D6"/>
                </a:solidFill>
                <a:latin typeface="Calibri"/>
              </a:rPr>
              <a:t>3 transformers fine-tuned on a 6 GB 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560320" cy="19202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OS functionality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B8C7D6"/>
                </a:solidFill>
                <a:latin typeface="Calibri"/>
              </a:rPr>
              <a:t>a daemon consuming a log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08760"/>
            <a:ext cx="2560320" cy="192024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24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235440" y="16916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0" y="16916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 models compared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B8C7D6"/>
                </a:solidFill>
                <a:latin typeface="Calibri"/>
              </a:rPr>
              <a:t>best one (RoBERTa) deployed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RoBERTa warns ahead of 35 faults on unseen data; 34% of its alerts arrive before the fault starts (incident-level).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1155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Backup: training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7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064"/>
                <a:gridCol w="4648200"/>
                <a:gridCol w="1301495"/>
                <a:gridCol w="1394459"/>
                <a:gridCol w="139445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epoch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Train time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Peak VRAM</a:t>
                      </a:r>
                    </a:p>
                  </a:txBody>
                  <a:tcPr marL="73152" marR="73152" marT="27432" marB="27432" anchor="ctr">
                    <a:solidFill>
                      <a:srgbClr val="0E1B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RoBERTa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batch 8×4, lr 2e-05, max length 512, fp16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48 min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3.7 GB</a:t>
                      </a:r>
                    </a:p>
                  </a:txBody>
                  <a:tcPr marL="73152" marR="73152" marT="27432" marB="27432" anchor="ctr">
                    <a:solidFill>
                      <a:srgbClr val="2E9E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DistilBERT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batch 32×1, lr 5e-05, max length 512, fp16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24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4.1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ELECTRA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batch 8×4, lr 2e-05, max length 512, fp16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33 min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3.5 GB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Gradient-boosted trees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200 trees, lr 0.05, 596 features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0.9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CPU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709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773168"/>
            <a:ext cx="1078992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data for every model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47,311 training windows; early stopping on validation PR-AUC; class weight 2 on pre-fault windows.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2A3A"/>
                </a:solidFill>
                <a:latin typeface="Calibri"/>
              </a:rPr>
              <a:t>Backup: window vs incident precision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8A13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926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155448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07040" y="1554480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0647A"/>
                </a:solidFill>
                <a:latin typeface="Calibri"/>
              </a:rPr>
              <a:t>W12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0647A"/>
                </a:solidFill>
                <a:latin typeface="Calibri"/>
              </a:rPr>
              <a:t>flagged windows (confidence ≥ τ) in amber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3108960"/>
            <a:ext cx="0" cy="685800"/>
          </a:xfrm>
          <a:prstGeom prst="line">
            <a:avLst/>
          </a:prstGeom>
          <a:ln w="31750">
            <a:solidFill>
              <a:srgbClr val="E8A1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606040" y="3886200"/>
            <a:ext cx="2926080" cy="141732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743200" y="3977639"/>
            <a:ext cx="265176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E9E5B"/>
                </a:solidFill>
                <a:latin typeface="Calibri"/>
              </a:rPr>
              <a:t>1 incident card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windows 3-6 are one episode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83879" y="3108960"/>
            <a:ext cx="0" cy="685800"/>
          </a:xfrm>
          <a:prstGeom prst="line">
            <a:avLst/>
          </a:prstGeom>
          <a:ln w="31750">
            <a:solidFill>
              <a:srgbClr val="E8A1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720840" y="3886200"/>
            <a:ext cx="2926080" cy="14173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25400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58000" y="3977639"/>
            <a:ext cx="265176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8A13A"/>
                </a:solidFill>
                <a:latin typeface="Calibri"/>
              </a:rPr>
              <a:t>a new incident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50647A"/>
                </a:solidFill>
                <a:latin typeface="Calibri"/>
              </a:rPr>
              <a:t>only after the run breaks and the cooldown has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235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B2A3A"/>
                </a:solidFill>
                <a:latin typeface="Calibri"/>
              </a:rPr>
              <a:t>Window-level precision scores every flagged window; incident-level precision scores each alert an operator actually receives. Many flagged windows collapse into one alert.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